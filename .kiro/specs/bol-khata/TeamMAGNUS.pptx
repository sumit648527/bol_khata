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anrope" panose="020B0604020202020204" charset="0"/>
      <p:regular r:id="rId14"/>
      <p:bold r:id="rId15"/>
    </p:embeddedFont>
    <p:embeddedFont>
      <p:font typeface="Manrope SemiBold"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a:t>
            </a:r>
            <a:r>
              <a:rPr lang="en-GB" sz="1600" dirty="0" err="1">
                <a:solidFill>
                  <a:srgbClr val="202729"/>
                </a:solidFill>
                <a:latin typeface="Manrope SemiBold"/>
                <a:ea typeface="Manrope SemiBold"/>
                <a:cs typeface="Manrope SemiBold"/>
                <a:sym typeface="Manrope SemiBold"/>
              </a:rPr>
              <a:t>TeamMAGNUS</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63" y="4254775"/>
            <a:ext cx="8520600" cy="408600"/>
          </a:xfrm>
          <a:prstGeom prst="rect">
            <a:avLst/>
          </a:prstGeom>
          <a:noFill/>
          <a:ln>
            <a:noFill/>
          </a:ln>
        </p:spPr>
        <p:txBody>
          <a:bodyPr spcFirstLastPara="1" wrap="square" lIns="91425" tIns="91425" rIns="91425" bIns="91425" anchor="t" anchorCtr="0">
            <a:normAutofit fontScale="77500" lnSpcReduction="20000"/>
          </a:bodyPr>
          <a:lstStyle/>
          <a:p>
            <a:pPr lvl="0">
              <a:lnSpc>
                <a:spcPct val="70000"/>
              </a:lnSpc>
            </a:pPr>
            <a:r>
              <a:rPr lang="en-GB" sz="2100" dirty="0">
                <a:solidFill>
                  <a:srgbClr val="202729"/>
                </a:solidFill>
                <a:latin typeface="Manrope SemiBold"/>
                <a:ea typeface="Manrope SemiBold"/>
                <a:cs typeface="Manrope SemiBold"/>
                <a:sym typeface="Manrope SemiBold"/>
              </a:rPr>
              <a:t>Problem Statement </a:t>
            </a:r>
            <a:r>
              <a:rPr lang="en-GB" sz="1600" dirty="0">
                <a:solidFill>
                  <a:srgbClr val="202729"/>
                </a:solidFill>
                <a:latin typeface="Manrope SemiBold"/>
                <a:ea typeface="Manrope SemiBold"/>
                <a:cs typeface="Manrope SemiBold"/>
                <a:sym typeface="Manrope SemiBold"/>
              </a:rPr>
              <a:t>:</a:t>
            </a:r>
            <a:r>
              <a:rPr lang="en-US" sz="1600" dirty="0">
                <a:solidFill>
                  <a:srgbClr val="202729"/>
                </a:solidFill>
                <a:latin typeface="Manrope SemiBold"/>
                <a:ea typeface="Manrope SemiBold"/>
                <a:cs typeface="Manrope SemiBold"/>
                <a:sym typeface="Manrope SemiBold"/>
              </a:rPr>
              <a:t>Millions of semi-literate Indian micro-merchants are excluded from the digital economy because they cannot navigate complex, text-first financial applications to track their daily credit and payments.</a:t>
            </a:r>
            <a:endParaRPr sz="12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Suraj Ojha</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304533" y="826379"/>
            <a:ext cx="8534934" cy="4020684"/>
          </a:xfrm>
          <a:prstGeom prst="rect">
            <a:avLst/>
          </a:prstGeom>
          <a:noFill/>
          <a:ln>
            <a:noFill/>
          </a:ln>
        </p:spPr>
        <p:txBody>
          <a:bodyPr spcFirstLastPara="1" wrap="square" lIns="91425" tIns="91425" rIns="91425" bIns="91425" anchor="t" anchorCtr="0">
            <a:normAutofit fontScale="32500" lnSpcReduction="20000"/>
          </a:bodyPr>
          <a:lstStyle/>
          <a:p>
            <a:pPr marL="0" lvl="0" indent="0" algn="l" rtl="0">
              <a:lnSpc>
                <a:spcPct val="115000"/>
              </a:lnSpc>
              <a:spcBef>
                <a:spcPts val="0"/>
              </a:spcBef>
              <a:spcAft>
                <a:spcPts val="1200"/>
              </a:spcAft>
              <a:buSzPts val="935"/>
              <a:buNone/>
            </a:pPr>
            <a:r>
              <a:rPr lang="en-GB" sz="4900" b="1" dirty="0">
                <a:solidFill>
                  <a:srgbClr val="202729"/>
                </a:solidFill>
                <a:latin typeface="Manrope"/>
                <a:ea typeface="Manrope"/>
                <a:cs typeface="Manrope"/>
                <a:sym typeface="Manrope"/>
              </a:rPr>
              <a:t>Brief about the Idea:</a:t>
            </a:r>
          </a:p>
          <a:p>
            <a:pPr lvl="0">
              <a:lnSpc>
                <a:spcPct val="115000"/>
              </a:lnSpc>
              <a:spcAft>
                <a:spcPts val="1200"/>
              </a:spcAft>
              <a:buSzPts val="935"/>
            </a:pPr>
            <a:r>
              <a:rPr lang="en-US" sz="3700" b="1" dirty="0">
                <a:solidFill>
                  <a:srgbClr val="202729"/>
                </a:solidFill>
                <a:latin typeface="Manrope"/>
                <a:ea typeface="Manrope"/>
                <a:cs typeface="Manrope"/>
                <a:sym typeface="Manrope"/>
              </a:rPr>
              <a:t>Bol-</a:t>
            </a:r>
            <a:r>
              <a:rPr lang="en-US" sz="3700" b="1" dirty="0" err="1">
                <a:solidFill>
                  <a:srgbClr val="202729"/>
                </a:solidFill>
                <a:latin typeface="Manrope"/>
                <a:ea typeface="Manrope"/>
                <a:cs typeface="Manrope"/>
                <a:sym typeface="Manrope"/>
              </a:rPr>
              <a:t>Khata</a:t>
            </a:r>
            <a:r>
              <a:rPr lang="en-US" sz="3700" b="1" dirty="0">
                <a:solidFill>
                  <a:srgbClr val="202729"/>
                </a:solidFill>
                <a:latin typeface="Manrope"/>
                <a:ea typeface="Manrope"/>
                <a:cs typeface="Manrope"/>
                <a:sym typeface="Manrope"/>
              </a:rPr>
              <a:t>: The Voice-First Financial Ledger for Bharat</a:t>
            </a:r>
          </a:p>
          <a:p>
            <a:pPr lvl="0">
              <a:lnSpc>
                <a:spcPct val="115000"/>
              </a:lnSpc>
              <a:spcAft>
                <a:spcPts val="1200"/>
              </a:spcAft>
              <a:buSzPts val="935"/>
            </a:pPr>
            <a:r>
              <a:rPr lang="en-US" sz="3700" b="1" dirty="0">
                <a:solidFill>
                  <a:srgbClr val="202729"/>
                </a:solidFill>
                <a:latin typeface="Manrope"/>
                <a:ea typeface="Manrope"/>
                <a:cs typeface="Manrope"/>
                <a:sym typeface="Manrope"/>
              </a:rPr>
              <a:t>Bol-</a:t>
            </a:r>
            <a:r>
              <a:rPr lang="en-US" sz="3700" b="1" dirty="0" err="1">
                <a:solidFill>
                  <a:srgbClr val="202729"/>
                </a:solidFill>
                <a:latin typeface="Manrope"/>
                <a:ea typeface="Manrope"/>
                <a:cs typeface="Manrope"/>
                <a:sym typeface="Manrope"/>
              </a:rPr>
              <a:t>Khata</a:t>
            </a:r>
            <a:r>
              <a:rPr lang="en-US" sz="3700" b="1" dirty="0">
                <a:solidFill>
                  <a:srgbClr val="202729"/>
                </a:solidFill>
                <a:latin typeface="Manrope"/>
                <a:ea typeface="Manrope"/>
                <a:cs typeface="Manrope"/>
                <a:sym typeface="Manrope"/>
              </a:rPr>
              <a:t> is an AI-powered digital ledger designed for India’s 80 million+ street vendors and micro-merchants who struggle with complex, typing-based financial apps due to literacy or language barriers.</a:t>
            </a:r>
          </a:p>
          <a:p>
            <a:pPr lvl="0">
              <a:lnSpc>
                <a:spcPct val="115000"/>
              </a:lnSpc>
              <a:spcAft>
                <a:spcPts val="1200"/>
              </a:spcAft>
              <a:buSzPts val="935"/>
            </a:pPr>
            <a:r>
              <a:rPr lang="en-US" sz="3700" b="1" dirty="0">
                <a:solidFill>
                  <a:srgbClr val="202729"/>
                </a:solidFill>
                <a:latin typeface="Manrope"/>
                <a:ea typeface="Manrope"/>
                <a:cs typeface="Manrope"/>
                <a:sym typeface="Manrope"/>
              </a:rPr>
              <a:t>Instead of navigating menus or typing names, a vendor simply speaks naturally in their local dialect (e.g., "Ramesh ne 20 </a:t>
            </a:r>
            <a:r>
              <a:rPr lang="en-US" sz="3700" b="1" dirty="0" err="1">
                <a:solidFill>
                  <a:srgbClr val="202729"/>
                </a:solidFill>
                <a:latin typeface="Manrope"/>
                <a:ea typeface="Manrope"/>
                <a:cs typeface="Manrope"/>
                <a:sym typeface="Manrope"/>
              </a:rPr>
              <a:t>rupay</a:t>
            </a:r>
            <a:r>
              <a:rPr lang="en-US" sz="3700" b="1" dirty="0">
                <a:solidFill>
                  <a:srgbClr val="202729"/>
                </a:solidFill>
                <a:latin typeface="Manrope"/>
                <a:ea typeface="Manrope"/>
                <a:cs typeface="Manrope"/>
                <a:sym typeface="Manrope"/>
              </a:rPr>
              <a:t> </a:t>
            </a:r>
            <a:r>
              <a:rPr lang="en-US" sz="3700" b="1" dirty="0" err="1">
                <a:solidFill>
                  <a:srgbClr val="202729"/>
                </a:solidFill>
                <a:latin typeface="Manrope"/>
                <a:ea typeface="Manrope"/>
                <a:cs typeface="Manrope"/>
                <a:sym typeface="Manrope"/>
              </a:rPr>
              <a:t>udhaar</a:t>
            </a:r>
            <a:r>
              <a:rPr lang="en-US" sz="3700" b="1" dirty="0">
                <a:solidFill>
                  <a:srgbClr val="202729"/>
                </a:solidFill>
                <a:latin typeface="Manrope"/>
                <a:ea typeface="Manrope"/>
                <a:cs typeface="Manrope"/>
                <a:sym typeface="Manrope"/>
              </a:rPr>
              <a:t> </a:t>
            </a:r>
            <a:r>
              <a:rPr lang="en-US" sz="3700" b="1" dirty="0" err="1">
                <a:solidFill>
                  <a:srgbClr val="202729"/>
                </a:solidFill>
                <a:latin typeface="Manrope"/>
                <a:ea typeface="Manrope"/>
                <a:cs typeface="Manrope"/>
                <a:sym typeface="Manrope"/>
              </a:rPr>
              <a:t>liye</a:t>
            </a:r>
            <a:r>
              <a:rPr lang="en-US" sz="3700" b="1" dirty="0">
                <a:solidFill>
                  <a:srgbClr val="202729"/>
                </a:solidFill>
                <a:latin typeface="Manrope"/>
                <a:ea typeface="Manrope"/>
                <a:cs typeface="Manrope"/>
                <a:sym typeface="Manrope"/>
              </a:rPr>
              <a:t>"). Our system uses a Hybrid AI Architecture:</a:t>
            </a:r>
          </a:p>
          <a:p>
            <a:pPr lvl="0">
              <a:lnSpc>
                <a:spcPct val="115000"/>
              </a:lnSpc>
              <a:spcAft>
                <a:spcPts val="1200"/>
              </a:spcAft>
              <a:buSzPts val="935"/>
            </a:pPr>
            <a:r>
              <a:rPr lang="en-US" sz="3700" b="1" dirty="0">
                <a:solidFill>
                  <a:srgbClr val="202729"/>
                </a:solidFill>
                <a:latin typeface="Manrope"/>
                <a:ea typeface="Manrope"/>
                <a:cs typeface="Manrope"/>
                <a:sym typeface="Manrope"/>
              </a:rPr>
              <a:t>Voice AI (Bhashini/Sarvam): Instantly transcribes mixed-language speech (Hinglish/</a:t>
            </a:r>
            <a:r>
              <a:rPr lang="en-US" sz="3700" b="1" dirty="0" err="1">
                <a:solidFill>
                  <a:srgbClr val="202729"/>
                </a:solidFill>
                <a:latin typeface="Manrope"/>
                <a:ea typeface="Manrope"/>
                <a:cs typeface="Manrope"/>
                <a:sym typeface="Manrope"/>
              </a:rPr>
              <a:t>Tanglish</a:t>
            </a:r>
            <a:r>
              <a:rPr lang="en-US" sz="3700" b="1" dirty="0">
                <a:solidFill>
                  <a:srgbClr val="202729"/>
                </a:solidFill>
                <a:latin typeface="Manrope"/>
                <a:ea typeface="Manrope"/>
                <a:cs typeface="Manrope"/>
                <a:sym typeface="Manrope"/>
              </a:rPr>
              <a:t>) into text.</a:t>
            </a:r>
          </a:p>
          <a:p>
            <a:pPr lvl="0">
              <a:lnSpc>
                <a:spcPct val="115000"/>
              </a:lnSpc>
              <a:spcAft>
                <a:spcPts val="1200"/>
              </a:spcAft>
              <a:buSzPts val="935"/>
            </a:pPr>
            <a:r>
              <a:rPr lang="en-US" sz="3700" b="1" dirty="0">
                <a:solidFill>
                  <a:srgbClr val="202729"/>
                </a:solidFill>
                <a:latin typeface="Manrope"/>
                <a:ea typeface="Manrope"/>
                <a:cs typeface="Manrope"/>
                <a:sym typeface="Manrope"/>
              </a:rPr>
              <a:t>NLU Engine (Python): Extracts the intent (Credit vs. Payment), customer name, and amount.</a:t>
            </a:r>
          </a:p>
          <a:p>
            <a:pPr lvl="0">
              <a:lnSpc>
                <a:spcPct val="115000"/>
              </a:lnSpc>
              <a:spcAft>
                <a:spcPts val="1200"/>
              </a:spcAft>
              <a:buSzPts val="935"/>
            </a:pPr>
            <a:r>
              <a:rPr lang="en-US" sz="3700" b="1" dirty="0">
                <a:solidFill>
                  <a:srgbClr val="202729"/>
                </a:solidFill>
                <a:latin typeface="Manrope"/>
                <a:ea typeface="Manrope"/>
                <a:cs typeface="Manrope"/>
                <a:sym typeface="Manrope"/>
              </a:rPr>
              <a:t>Banking Core (Java): Securely logs the transaction and automatically sends a WhatsApp payment reminder to the customer.</a:t>
            </a:r>
          </a:p>
          <a:p>
            <a:pPr lvl="0">
              <a:lnSpc>
                <a:spcPct val="115000"/>
              </a:lnSpc>
              <a:spcAft>
                <a:spcPts val="1200"/>
              </a:spcAft>
              <a:buSzPts val="935"/>
            </a:pPr>
            <a:r>
              <a:rPr lang="en-US" sz="3700" b="1" dirty="0">
                <a:solidFill>
                  <a:srgbClr val="202729"/>
                </a:solidFill>
                <a:latin typeface="Manrope"/>
                <a:ea typeface="Manrope"/>
                <a:cs typeface="Manrope"/>
                <a:sym typeface="Manrope"/>
              </a:rPr>
              <a:t>Key Innovation: It creates a "Zero-Touch" user interface where the vendor speaks, the app listens, confirms back in audio, and manages the books—making digital record-keeping accessible to the next billion users.</a:t>
            </a:r>
            <a:endParaRPr sz="3700" b="1" dirty="0">
              <a:solidFill>
                <a:srgbClr val="202729"/>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0" y="468350"/>
            <a:ext cx="9144000" cy="467514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b="1" dirty="0">
                <a:solidFill>
                  <a:srgbClr val="202729"/>
                </a:solidFill>
                <a:latin typeface="Manrope"/>
                <a:ea typeface="Manrope"/>
                <a:cs typeface="Manrope"/>
                <a:sym typeface="Manrope"/>
              </a:rPr>
              <a:t>Your solution should be able to explain the following:</a:t>
            </a:r>
          </a:p>
          <a:p>
            <a:pPr lvl="0">
              <a:lnSpc>
                <a:spcPct val="115000"/>
              </a:lnSpc>
              <a:buSzPts val="935"/>
            </a:pPr>
            <a:r>
              <a:rPr lang="en-US" sz="1100" b="1" dirty="0">
                <a:solidFill>
                  <a:srgbClr val="202729"/>
                </a:solidFill>
                <a:latin typeface="Manrope"/>
                <a:ea typeface="Manrope"/>
                <a:cs typeface="Manrope"/>
                <a:sym typeface="Manrope"/>
              </a:rPr>
              <a:t>1.   How different is it from any of the other existing ideas?</a:t>
            </a:r>
          </a:p>
          <a:p>
            <a:pPr lvl="0">
              <a:lnSpc>
                <a:spcPct val="115000"/>
              </a:lnSpc>
              <a:buSzPts val="935"/>
            </a:pPr>
            <a:r>
              <a:rPr lang="en-US" sz="950" b="1" dirty="0">
                <a:solidFill>
                  <a:srgbClr val="202729"/>
                </a:solidFill>
                <a:latin typeface="Manrope"/>
                <a:ea typeface="Manrope"/>
                <a:cs typeface="Manrope"/>
                <a:sym typeface="Manrope"/>
              </a:rPr>
              <a:t>While apps like </a:t>
            </a:r>
            <a:r>
              <a:rPr lang="en-US" sz="950" b="1" dirty="0" err="1">
                <a:solidFill>
                  <a:srgbClr val="202729"/>
                </a:solidFill>
                <a:latin typeface="Manrope"/>
                <a:ea typeface="Manrope"/>
                <a:cs typeface="Manrope"/>
                <a:sym typeface="Manrope"/>
              </a:rPr>
              <a:t>Khatabook</a:t>
            </a:r>
            <a:r>
              <a:rPr lang="en-US" sz="950" b="1" dirty="0">
                <a:solidFill>
                  <a:srgbClr val="202729"/>
                </a:solidFill>
                <a:latin typeface="Manrope"/>
                <a:ea typeface="Manrope"/>
                <a:cs typeface="Manrope"/>
                <a:sym typeface="Manrope"/>
              </a:rPr>
              <a:t>, </a:t>
            </a:r>
            <a:r>
              <a:rPr lang="en-US" sz="950" b="1" dirty="0" err="1">
                <a:solidFill>
                  <a:srgbClr val="202729"/>
                </a:solidFill>
                <a:latin typeface="Manrope"/>
                <a:ea typeface="Manrope"/>
                <a:cs typeface="Manrope"/>
                <a:sym typeface="Manrope"/>
              </a:rPr>
              <a:t>OkCredit</a:t>
            </a:r>
            <a:r>
              <a:rPr lang="en-US" sz="950" b="1" dirty="0">
                <a:solidFill>
                  <a:srgbClr val="202729"/>
                </a:solidFill>
                <a:latin typeface="Manrope"/>
                <a:ea typeface="Manrope"/>
                <a:cs typeface="Manrope"/>
                <a:sym typeface="Manrope"/>
              </a:rPr>
              <a:t>, and Paytm for Business exist, they are primarily Visual &amp; Text-First—they require users to navigate menus, type customer names, and manually enter numbers. Bol-</a:t>
            </a:r>
            <a:r>
              <a:rPr lang="en-US" sz="950" b="1" dirty="0" err="1">
                <a:solidFill>
                  <a:srgbClr val="202729"/>
                </a:solidFill>
                <a:latin typeface="Manrope"/>
                <a:ea typeface="Manrope"/>
                <a:cs typeface="Manrope"/>
                <a:sym typeface="Manrope"/>
              </a:rPr>
              <a:t>Khata</a:t>
            </a:r>
            <a:r>
              <a:rPr lang="en-US" sz="950" b="1" dirty="0">
                <a:solidFill>
                  <a:srgbClr val="202729"/>
                </a:solidFill>
                <a:latin typeface="Manrope"/>
                <a:ea typeface="Manrope"/>
                <a:cs typeface="Manrope"/>
                <a:sym typeface="Manrope"/>
              </a:rPr>
              <a:t> is Voice-First. It completely removes the keyboard and screen navigation from the primary workflow. Competitors treat voice as an "add-on" feature (like a search bar). We treat voice as the only interface needed, mimicking how an uneducated vendor naturally speaks ("Ramesh ne 20 </a:t>
            </a:r>
            <a:r>
              <a:rPr lang="en-US" sz="950" b="1" dirty="0" err="1">
                <a:solidFill>
                  <a:srgbClr val="202729"/>
                </a:solidFill>
                <a:latin typeface="Manrope"/>
                <a:ea typeface="Manrope"/>
                <a:cs typeface="Manrope"/>
                <a:sym typeface="Manrope"/>
              </a:rPr>
              <a:t>rupay</a:t>
            </a:r>
            <a:r>
              <a:rPr lang="en-US" sz="950" b="1" dirty="0">
                <a:solidFill>
                  <a:srgbClr val="202729"/>
                </a:solidFill>
                <a:latin typeface="Manrope"/>
                <a:ea typeface="Manrope"/>
                <a:cs typeface="Manrope"/>
                <a:sym typeface="Manrope"/>
              </a:rPr>
              <a:t> </a:t>
            </a:r>
            <a:r>
              <a:rPr lang="en-US" sz="950" b="1" dirty="0" err="1">
                <a:solidFill>
                  <a:srgbClr val="202729"/>
                </a:solidFill>
                <a:latin typeface="Manrope"/>
                <a:ea typeface="Manrope"/>
                <a:cs typeface="Manrope"/>
                <a:sym typeface="Manrope"/>
              </a:rPr>
              <a:t>udhaar</a:t>
            </a:r>
            <a:r>
              <a:rPr lang="en-US" sz="950" b="1" dirty="0">
                <a:solidFill>
                  <a:srgbClr val="202729"/>
                </a:solidFill>
                <a:latin typeface="Manrope"/>
                <a:ea typeface="Manrope"/>
                <a:cs typeface="Manrope"/>
                <a:sym typeface="Manrope"/>
              </a:rPr>
              <a:t> </a:t>
            </a:r>
            <a:r>
              <a:rPr lang="en-US" sz="950" b="1" dirty="0" err="1">
                <a:solidFill>
                  <a:srgbClr val="202729"/>
                </a:solidFill>
                <a:latin typeface="Manrope"/>
                <a:ea typeface="Manrope"/>
                <a:cs typeface="Manrope"/>
                <a:sym typeface="Manrope"/>
              </a:rPr>
              <a:t>liye</a:t>
            </a:r>
            <a:r>
              <a:rPr lang="en-US" sz="950" b="1" dirty="0">
                <a:solidFill>
                  <a:srgbClr val="202729"/>
                </a:solidFill>
                <a:latin typeface="Manrope"/>
                <a:ea typeface="Manrope"/>
                <a:cs typeface="Manrope"/>
                <a:sym typeface="Manrope"/>
              </a:rPr>
              <a:t>"). Unlike standard speech-to-text tools, we utilize Bhashini/Sarvam AI (India's Digital Public Infrastructure) to handle code-mixed "Hinglish" and regional dialects specific to Indian street commerce, which global competitors struggle with.</a:t>
            </a:r>
          </a:p>
          <a:p>
            <a:pPr lvl="0">
              <a:lnSpc>
                <a:spcPct val="115000"/>
              </a:lnSpc>
              <a:buSzPts val="935"/>
            </a:pPr>
            <a:endParaRPr lang="en-US" sz="950" b="1" dirty="0">
              <a:solidFill>
                <a:srgbClr val="202729"/>
              </a:solidFill>
              <a:latin typeface="Manrope"/>
              <a:ea typeface="Manrope"/>
              <a:cs typeface="Manrope"/>
              <a:sym typeface="Manrope"/>
            </a:endParaRPr>
          </a:p>
          <a:p>
            <a:pPr lvl="0">
              <a:lnSpc>
                <a:spcPct val="115000"/>
              </a:lnSpc>
              <a:buSzPts val="935"/>
            </a:pPr>
            <a:r>
              <a:rPr lang="en-US" sz="1100" b="1" dirty="0">
                <a:solidFill>
                  <a:srgbClr val="202729"/>
                </a:solidFill>
                <a:latin typeface="Manrope"/>
                <a:ea typeface="Manrope"/>
                <a:cs typeface="Manrope"/>
                <a:sym typeface="Manrope"/>
              </a:rPr>
              <a:t>2</a:t>
            </a:r>
            <a:r>
              <a:rPr lang="en-US" sz="950" b="1" dirty="0">
                <a:solidFill>
                  <a:srgbClr val="202729"/>
                </a:solidFill>
                <a:latin typeface="Manrope"/>
                <a:ea typeface="Manrope"/>
                <a:cs typeface="Manrope"/>
                <a:sym typeface="Manrope"/>
              </a:rPr>
              <a:t>.    </a:t>
            </a:r>
            <a:r>
              <a:rPr lang="en-US" sz="1100" b="1" dirty="0">
                <a:solidFill>
                  <a:srgbClr val="202729"/>
                </a:solidFill>
                <a:latin typeface="Manrope"/>
                <a:ea typeface="Manrope"/>
                <a:cs typeface="Manrope"/>
                <a:sym typeface="Manrope"/>
              </a:rPr>
              <a:t>How will it be able to solve the problem?</a:t>
            </a:r>
          </a:p>
          <a:p>
            <a:pPr lvl="0">
              <a:lnSpc>
                <a:spcPct val="115000"/>
              </a:lnSpc>
              <a:buSzPts val="935"/>
            </a:pPr>
            <a:r>
              <a:rPr lang="en-US" sz="950" b="1" dirty="0">
                <a:solidFill>
                  <a:srgbClr val="202729"/>
                </a:solidFill>
                <a:latin typeface="Manrope"/>
                <a:ea typeface="Manrope"/>
                <a:cs typeface="Manrope"/>
                <a:sym typeface="Manrope"/>
              </a:rPr>
              <a:t>The core problem is exclusion due to friction. Street vendors stop using digital tools during rush hours because typing is too slow, leading to lost data and financial loss. The vendor simply taps a big button and speaks the transaction in their local dialect. Our Python-based NLU engine extracts the Intent (Credit/Payment), Entity (Customer Name), and Value (Amount) instantly. The app plays back an audio confirmation ("Recorded 20 rupees for Ramesh") so the vendor doesn't even need to look at the screen to verify. It automatically sends a WhatsApp payment link to the customer, ensuring the vendor gets paid on time without awkward face-to-face reminders.</a:t>
            </a:r>
          </a:p>
          <a:p>
            <a:pPr lvl="0">
              <a:lnSpc>
                <a:spcPct val="115000"/>
              </a:lnSpc>
              <a:buSzPts val="935"/>
            </a:pPr>
            <a:endParaRPr lang="en-US" sz="950" b="1" dirty="0">
              <a:solidFill>
                <a:srgbClr val="202729"/>
              </a:solidFill>
              <a:latin typeface="Manrope"/>
              <a:ea typeface="Manrope"/>
              <a:cs typeface="Manrope"/>
              <a:sym typeface="Manrope"/>
            </a:endParaRPr>
          </a:p>
          <a:p>
            <a:pPr lvl="0">
              <a:lnSpc>
                <a:spcPct val="115000"/>
              </a:lnSpc>
              <a:buSzPts val="935"/>
            </a:pPr>
            <a:r>
              <a:rPr lang="en-US" sz="1100" b="1" dirty="0">
                <a:solidFill>
                  <a:srgbClr val="202729"/>
                </a:solidFill>
                <a:latin typeface="Manrope"/>
                <a:ea typeface="Manrope"/>
                <a:cs typeface="Manrope"/>
                <a:sym typeface="Manrope"/>
              </a:rPr>
              <a:t>3. USP of the proposed solution</a:t>
            </a:r>
          </a:p>
          <a:p>
            <a:pPr lvl="0">
              <a:lnSpc>
                <a:spcPct val="115000"/>
              </a:lnSpc>
              <a:buSzPts val="935"/>
            </a:pPr>
            <a:r>
              <a:rPr lang="en-US" sz="1000" b="1" dirty="0">
                <a:solidFill>
                  <a:srgbClr val="202729"/>
                </a:solidFill>
                <a:latin typeface="Manrope"/>
                <a:ea typeface="Manrope"/>
                <a:cs typeface="Manrope"/>
                <a:sym typeface="Manrope"/>
              </a:rPr>
              <a:t>"Zero-Touch Bookkeeping": </a:t>
            </a:r>
            <a:r>
              <a:rPr lang="en-US" sz="950" b="1" dirty="0">
                <a:solidFill>
                  <a:srgbClr val="202729"/>
                </a:solidFill>
                <a:latin typeface="Manrope"/>
                <a:ea typeface="Manrope"/>
                <a:cs typeface="Manrope"/>
                <a:sym typeface="Manrope"/>
              </a:rPr>
              <a:t>The first ledger app designed to be used "eyes-free" and "hands-free" during peak business hours.</a:t>
            </a:r>
          </a:p>
          <a:p>
            <a:pPr lvl="0">
              <a:lnSpc>
                <a:spcPct val="115000"/>
              </a:lnSpc>
              <a:buSzPts val="935"/>
            </a:pPr>
            <a:r>
              <a:rPr lang="en-US" sz="1000" b="1" dirty="0">
                <a:solidFill>
                  <a:srgbClr val="202729"/>
                </a:solidFill>
                <a:latin typeface="Manrope"/>
                <a:ea typeface="Manrope"/>
                <a:cs typeface="Manrope"/>
                <a:sym typeface="Manrope"/>
              </a:rPr>
              <a:t>"Built for Bharat, not just India": </a:t>
            </a:r>
            <a:r>
              <a:rPr lang="en-US" sz="950" b="1" dirty="0">
                <a:solidFill>
                  <a:srgbClr val="202729"/>
                </a:solidFill>
                <a:latin typeface="Manrope"/>
                <a:ea typeface="Manrope"/>
                <a:cs typeface="Manrope"/>
                <a:sym typeface="Manrope"/>
              </a:rPr>
              <a:t>Deep integration with Indian dialects (Bhojpuri, </a:t>
            </a:r>
            <a:r>
              <a:rPr lang="en-US" sz="950" b="1" dirty="0" err="1">
                <a:solidFill>
                  <a:srgbClr val="202729"/>
                </a:solidFill>
                <a:latin typeface="Manrope"/>
                <a:ea typeface="Manrope"/>
                <a:cs typeface="Manrope"/>
                <a:sym typeface="Manrope"/>
              </a:rPr>
              <a:t>Tanglish</a:t>
            </a:r>
            <a:r>
              <a:rPr lang="en-US" sz="950" b="1" dirty="0">
                <a:solidFill>
                  <a:srgbClr val="202729"/>
                </a:solidFill>
                <a:latin typeface="Manrope"/>
                <a:ea typeface="Manrope"/>
                <a:cs typeface="Manrope"/>
                <a:sym typeface="Manrope"/>
              </a:rPr>
              <a:t>, etc.) ensuring that language barrier is never a barrier to financial literacy.</a:t>
            </a:r>
          </a:p>
          <a:p>
            <a:pPr lvl="0">
              <a:lnSpc>
                <a:spcPct val="115000"/>
              </a:lnSpc>
              <a:buSzPts val="935"/>
            </a:pPr>
            <a:r>
              <a:rPr lang="en-US" sz="1000" b="1" dirty="0">
                <a:solidFill>
                  <a:srgbClr val="202729"/>
                </a:solidFill>
                <a:latin typeface="Manrope"/>
                <a:ea typeface="Manrope"/>
                <a:cs typeface="Manrope"/>
                <a:sym typeface="Manrope"/>
              </a:rPr>
              <a:t>"Hybrid Trust Architecture": </a:t>
            </a:r>
            <a:r>
              <a:rPr lang="en-US" sz="950" b="1" dirty="0">
                <a:solidFill>
                  <a:srgbClr val="202729"/>
                </a:solidFill>
                <a:latin typeface="Manrope"/>
                <a:ea typeface="Manrope"/>
                <a:cs typeface="Manrope"/>
                <a:sym typeface="Manrope"/>
              </a:rPr>
              <a:t>We combine the cutting-edge speed of AI (Python) with the reliability of a banking-grade backend (Java/Spring Boot), giving users the ease of a chat app with the security of a bank.</a:t>
            </a:r>
            <a:endParaRPr sz="950" b="1" dirty="0">
              <a:solidFill>
                <a:srgbClr val="202729"/>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0" y="401444"/>
            <a:ext cx="9144000" cy="4653776"/>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0"/>
              </a:spcBef>
              <a:spcAft>
                <a:spcPts val="0"/>
              </a:spcAft>
              <a:buSzPts val="935"/>
              <a:buNone/>
            </a:pPr>
            <a:r>
              <a:rPr lang="en-GB" b="1" dirty="0">
                <a:solidFill>
                  <a:srgbClr val="202729"/>
                </a:solidFill>
                <a:latin typeface="Manrope"/>
                <a:ea typeface="Manrope"/>
                <a:cs typeface="Manrope"/>
                <a:sym typeface="Manrope"/>
              </a:rPr>
              <a:t>List of features offered by the solution:</a:t>
            </a:r>
            <a:endParaRPr lang="en-GB" b="1" dirty="0">
              <a:solidFill>
                <a:srgbClr val="434343"/>
              </a:solidFill>
              <a:latin typeface="Manrope"/>
              <a:ea typeface="Manrope"/>
              <a:cs typeface="Manrope"/>
              <a:sym typeface="Manrope"/>
            </a:endParaRPr>
          </a:p>
          <a:p>
            <a:pPr marL="228600" lvl="0" indent="-228600" algn="l" rtl="0">
              <a:lnSpc>
                <a:spcPct val="115000"/>
              </a:lnSpc>
              <a:spcBef>
                <a:spcPts val="0"/>
              </a:spcBef>
              <a:spcAft>
                <a:spcPts val="0"/>
              </a:spcAft>
              <a:buSzPts val="935"/>
              <a:buAutoNum type="arabicPeriod"/>
            </a:pPr>
            <a:r>
              <a:rPr lang="en-US" sz="900" b="1" dirty="0">
                <a:solidFill>
                  <a:srgbClr val="202729"/>
                </a:solidFill>
                <a:latin typeface="Manrope"/>
                <a:ea typeface="Manrope"/>
                <a:cs typeface="Manrope"/>
                <a:sym typeface="Manrope"/>
              </a:rPr>
              <a:t>Voice-First Transaction Logging: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"Speak-to-Log" interface.</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Vendors record transactions naturally (e.g., "Ramesh ne 50 </a:t>
            </a:r>
            <a:r>
              <a:rPr lang="en-US" sz="800" b="1" dirty="0" err="1">
                <a:solidFill>
                  <a:srgbClr val="202729"/>
                </a:solidFill>
                <a:latin typeface="Manrope"/>
                <a:ea typeface="Manrope"/>
                <a:cs typeface="Manrope"/>
                <a:sym typeface="Manrope"/>
              </a:rPr>
              <a:t>rupay</a:t>
            </a:r>
            <a:r>
              <a:rPr lang="en-US" sz="800" b="1" dirty="0">
                <a:solidFill>
                  <a:srgbClr val="202729"/>
                </a:solidFill>
                <a:latin typeface="Manrope"/>
                <a:ea typeface="Manrope"/>
                <a:cs typeface="Manrope"/>
                <a:sym typeface="Manrope"/>
              </a:rPr>
              <a:t> </a:t>
            </a:r>
            <a:r>
              <a:rPr lang="en-US" sz="800" b="1" dirty="0" err="1">
                <a:solidFill>
                  <a:srgbClr val="202729"/>
                </a:solidFill>
                <a:latin typeface="Manrope"/>
                <a:ea typeface="Manrope"/>
                <a:cs typeface="Manrope"/>
                <a:sym typeface="Manrope"/>
              </a:rPr>
              <a:t>udhaar</a:t>
            </a:r>
            <a:r>
              <a:rPr lang="en-US" sz="800" b="1" dirty="0">
                <a:solidFill>
                  <a:srgbClr val="202729"/>
                </a:solidFill>
                <a:latin typeface="Manrope"/>
                <a:ea typeface="Manrope"/>
                <a:cs typeface="Manrope"/>
                <a:sym typeface="Manrope"/>
              </a:rPr>
              <a:t> </a:t>
            </a:r>
            <a:r>
              <a:rPr lang="en-US" sz="800" b="1" dirty="0" err="1">
                <a:solidFill>
                  <a:srgbClr val="202729"/>
                </a:solidFill>
                <a:latin typeface="Manrope"/>
                <a:ea typeface="Manrope"/>
                <a:cs typeface="Manrope"/>
                <a:sym typeface="Manrope"/>
              </a:rPr>
              <a:t>liye</a:t>
            </a:r>
            <a:r>
              <a:rPr lang="en-US" sz="800" b="1" dirty="0">
                <a:solidFill>
                  <a:srgbClr val="202729"/>
                </a:solidFill>
                <a:latin typeface="Manrope"/>
                <a:ea typeface="Manrope"/>
                <a:cs typeface="Manrope"/>
                <a:sym typeface="Manrope"/>
              </a:rPr>
              <a:t>") without typing or navigating menus.</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Tech: Powered by Bhashini / Sarvam AI for high-accuracy dialect recognition.</a:t>
            </a:r>
          </a:p>
          <a:p>
            <a:pPr marL="228600" lvl="0" indent="-228600" algn="l" rtl="0">
              <a:lnSpc>
                <a:spcPct val="115000"/>
              </a:lnSpc>
              <a:spcBef>
                <a:spcPts val="0"/>
              </a:spcBef>
              <a:spcAft>
                <a:spcPts val="0"/>
              </a:spcAft>
              <a:buSzPts val="935"/>
              <a:buAutoNum type="arabicPeriod" startAt="2"/>
            </a:pPr>
            <a:r>
              <a:rPr lang="en-US" sz="900" b="1" dirty="0">
                <a:solidFill>
                  <a:srgbClr val="202729"/>
                </a:solidFill>
                <a:latin typeface="Manrope"/>
                <a:ea typeface="Manrope"/>
                <a:cs typeface="Manrope"/>
                <a:sym typeface="Manrope"/>
              </a:rPr>
              <a:t> "Eyes-Free" Audio Confirmation:</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Two-way audio feedback loop.</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The system talks back to verify the entry (e.g., "Recorded 50 rupees for Ramesh. Is this correct?"), allowing vendors to work without looking at the screen during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rush hour.       </a:t>
            </a:r>
          </a:p>
          <a:p>
            <a:pPr marL="228600" lvl="0" indent="-228600" algn="l" rtl="0">
              <a:lnSpc>
                <a:spcPct val="115000"/>
              </a:lnSpc>
              <a:spcBef>
                <a:spcPts val="0"/>
              </a:spcBef>
              <a:spcAft>
                <a:spcPts val="0"/>
              </a:spcAft>
              <a:buSzPts val="935"/>
              <a:buAutoNum type="arabicPeriod" startAt="3"/>
            </a:pPr>
            <a:r>
              <a:rPr lang="en-US" sz="900" b="1" dirty="0">
                <a:solidFill>
                  <a:srgbClr val="202729"/>
                </a:solidFill>
                <a:latin typeface="Manrope"/>
                <a:ea typeface="Manrope"/>
                <a:cs typeface="Manrope"/>
                <a:sym typeface="Manrope"/>
              </a:rPr>
              <a:t>Audio Evidence &amp; Dispute Resolution:</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Immutable Audio Audit Trail.</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Unlike competitors that just save text, Bol-</a:t>
            </a:r>
            <a:r>
              <a:rPr lang="en-US" sz="800" b="1" dirty="0" err="1">
                <a:solidFill>
                  <a:srgbClr val="202729"/>
                </a:solidFill>
                <a:latin typeface="Manrope"/>
                <a:ea typeface="Manrope"/>
                <a:cs typeface="Manrope"/>
                <a:sym typeface="Manrope"/>
              </a:rPr>
              <a:t>Khata</a:t>
            </a:r>
            <a:r>
              <a:rPr lang="en-US" sz="800" b="1" dirty="0">
                <a:solidFill>
                  <a:srgbClr val="202729"/>
                </a:solidFill>
                <a:latin typeface="Manrope"/>
                <a:ea typeface="Manrope"/>
                <a:cs typeface="Manrope"/>
                <a:sym typeface="Manrope"/>
              </a:rPr>
              <a:t> saves the original voice recording linked to the transaction. If a customer disputes a bill, the vendor can replay the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exact moment the credit was given.</a:t>
            </a:r>
          </a:p>
          <a:p>
            <a:pPr marL="228600" lvl="0" indent="-228600" algn="l" rtl="0">
              <a:lnSpc>
                <a:spcPct val="115000"/>
              </a:lnSpc>
              <a:spcBef>
                <a:spcPts val="0"/>
              </a:spcBef>
              <a:spcAft>
                <a:spcPts val="0"/>
              </a:spcAft>
              <a:buSzPts val="935"/>
              <a:buAutoNum type="arabicPeriod" startAt="4"/>
            </a:pPr>
            <a:r>
              <a:rPr lang="en-US" sz="800" b="1" dirty="0">
                <a:solidFill>
                  <a:srgbClr val="202729"/>
                </a:solidFill>
                <a:latin typeface="Manrope"/>
                <a:ea typeface="Manrope"/>
                <a:cs typeface="Manrope"/>
                <a:sym typeface="Manrope"/>
              </a:rPr>
              <a:t> </a:t>
            </a:r>
            <a:r>
              <a:rPr lang="en-US" sz="900" b="1" dirty="0">
                <a:solidFill>
                  <a:srgbClr val="202729"/>
                </a:solidFill>
                <a:latin typeface="Manrope"/>
                <a:ea typeface="Manrope"/>
                <a:cs typeface="Manrope"/>
                <a:sym typeface="Manrope"/>
              </a:rPr>
              <a:t>Automated WhatsApp Reminders: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Smart Payment Alerts.</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Automatically sends a professional WhatsApp receipt or payment link to the customer immediately after the transaction is logged, reducing the awkwardness of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asking for money.</a:t>
            </a:r>
          </a:p>
          <a:p>
            <a:pPr marL="228600" lvl="0" indent="-228600" algn="l" rtl="0">
              <a:lnSpc>
                <a:spcPct val="115000"/>
              </a:lnSpc>
              <a:spcBef>
                <a:spcPts val="0"/>
              </a:spcBef>
              <a:spcAft>
                <a:spcPts val="0"/>
              </a:spcAft>
              <a:buSzPts val="935"/>
              <a:buAutoNum type="arabicPeriod" startAt="5"/>
            </a:pPr>
            <a:r>
              <a:rPr lang="en-US" sz="900" b="1" dirty="0">
                <a:solidFill>
                  <a:srgbClr val="202729"/>
                </a:solidFill>
                <a:latin typeface="Manrope"/>
                <a:ea typeface="Manrope"/>
                <a:cs typeface="Manrope"/>
                <a:sym typeface="Manrope"/>
              </a:rPr>
              <a:t>3-Tier Intelligent NLU Engine:</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Cost-Optimized Intent Extraction.</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A proprietary tiered system (Regex → Keyword Mapping → LLM Fallback) that ensures simple numbers are processed instantly and cheaply, while complex phrases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use advanced AI.</a:t>
            </a:r>
          </a:p>
          <a:p>
            <a:pPr lvl="0" algn="l" rtl="0">
              <a:lnSpc>
                <a:spcPct val="115000"/>
              </a:lnSpc>
              <a:spcBef>
                <a:spcPts val="0"/>
              </a:spcBef>
              <a:spcAft>
                <a:spcPts val="0"/>
              </a:spcAft>
              <a:buSzPts val="935"/>
            </a:pPr>
            <a:r>
              <a:rPr lang="en-US" sz="900" b="1" dirty="0">
                <a:solidFill>
                  <a:srgbClr val="202729"/>
                </a:solidFill>
                <a:latin typeface="Manrope"/>
                <a:ea typeface="Manrope"/>
                <a:cs typeface="Manrope"/>
                <a:sym typeface="Manrope"/>
              </a:rPr>
              <a:t>6.       Code-Mixed Language Support: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"Hinglish" &amp; "</a:t>
            </a:r>
            <a:r>
              <a:rPr lang="en-US" sz="800" b="1" dirty="0" err="1">
                <a:solidFill>
                  <a:srgbClr val="202729"/>
                </a:solidFill>
                <a:latin typeface="Manrope"/>
                <a:ea typeface="Manrope"/>
                <a:cs typeface="Manrope"/>
                <a:sym typeface="Manrope"/>
              </a:rPr>
              <a:t>Tanglish</a:t>
            </a:r>
            <a:r>
              <a:rPr lang="en-US" sz="800" b="1" dirty="0">
                <a:solidFill>
                  <a:srgbClr val="202729"/>
                </a:solidFill>
                <a:latin typeface="Manrope"/>
                <a:ea typeface="Manrope"/>
                <a:cs typeface="Manrope"/>
                <a:sym typeface="Manrope"/>
              </a:rPr>
              <a:t>" Native.</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Specifically trained to understand the mix of English and regional languages common in Indian street commerce (e.g., "20 </a:t>
            </a:r>
            <a:r>
              <a:rPr lang="en-US" sz="800" b="1" dirty="0" err="1">
                <a:solidFill>
                  <a:srgbClr val="202729"/>
                </a:solidFill>
                <a:latin typeface="Manrope"/>
                <a:ea typeface="Manrope"/>
                <a:cs typeface="Manrope"/>
                <a:sym typeface="Manrope"/>
              </a:rPr>
              <a:t>rupay</a:t>
            </a:r>
            <a:r>
              <a:rPr lang="en-US" sz="800" b="1" dirty="0">
                <a:solidFill>
                  <a:srgbClr val="202729"/>
                </a:solidFill>
                <a:latin typeface="Manrope"/>
                <a:ea typeface="Manrope"/>
                <a:cs typeface="Manrope"/>
                <a:sym typeface="Manrope"/>
              </a:rPr>
              <a:t> paid"), not just pure textbook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language.</a:t>
            </a:r>
          </a:p>
          <a:p>
            <a:pPr marL="228600" lvl="0" indent="-228600" algn="l" rtl="0">
              <a:lnSpc>
                <a:spcPct val="115000"/>
              </a:lnSpc>
              <a:spcBef>
                <a:spcPts val="0"/>
              </a:spcBef>
              <a:spcAft>
                <a:spcPts val="0"/>
              </a:spcAft>
              <a:buSzPts val="935"/>
              <a:buAutoNum type="arabicPeriod" startAt="7"/>
            </a:pPr>
            <a:r>
              <a:rPr lang="en-US" sz="800" b="1" dirty="0">
                <a:solidFill>
                  <a:srgbClr val="202729"/>
                </a:solidFill>
                <a:latin typeface="Manrope"/>
                <a:ea typeface="Manrope"/>
                <a:cs typeface="Manrope"/>
                <a:sym typeface="Manrope"/>
              </a:rPr>
              <a:t> </a:t>
            </a:r>
            <a:r>
              <a:rPr lang="en-US" sz="900" b="1" dirty="0">
                <a:solidFill>
                  <a:srgbClr val="202729"/>
                </a:solidFill>
                <a:latin typeface="Manrope"/>
                <a:ea typeface="Manrope"/>
                <a:cs typeface="Manrope"/>
                <a:sym typeface="Manrope"/>
              </a:rPr>
              <a:t>Fuzzy Customer </a:t>
            </a:r>
            <a:r>
              <a:rPr lang="en-US" sz="900" b="1" dirty="0" err="1">
                <a:solidFill>
                  <a:srgbClr val="202729"/>
                </a:solidFill>
                <a:latin typeface="Manrope"/>
                <a:ea typeface="Manrope"/>
                <a:cs typeface="Manrope"/>
                <a:sym typeface="Manrope"/>
              </a:rPr>
              <a:t>MatchingFeature</a:t>
            </a:r>
            <a:r>
              <a:rPr lang="en-US" sz="800" b="1" dirty="0">
                <a:solidFill>
                  <a:srgbClr val="202729"/>
                </a:solidFill>
                <a:latin typeface="Manrope"/>
                <a:ea typeface="Manrope"/>
                <a:cs typeface="Manrope"/>
                <a:sym typeface="Manrope"/>
              </a:rPr>
              <a:t>:</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Feature: Smart Name Recognition.</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Description: Identifies customers even if the vendor pronounces their name slightly differently each time (e.g., matching "Ramesh", "Ramesh-ji", and "Rames" to the same account).</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8.        </a:t>
            </a:r>
            <a:r>
              <a:rPr lang="en-US" sz="900" b="1" dirty="0">
                <a:solidFill>
                  <a:srgbClr val="202729"/>
                </a:solidFill>
                <a:latin typeface="Manrope"/>
                <a:ea typeface="Manrope"/>
                <a:cs typeface="Manrope"/>
                <a:sym typeface="Manrope"/>
              </a:rPr>
              <a:t>Visual Representation Ideas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Visual 1: The "Zero-Touch" </a:t>
            </a:r>
            <a:r>
              <a:rPr lang="en-US" sz="800" b="1" dirty="0" err="1">
                <a:solidFill>
                  <a:srgbClr val="202729"/>
                </a:solidFill>
                <a:latin typeface="Manrope"/>
                <a:ea typeface="Manrope"/>
                <a:cs typeface="Manrope"/>
                <a:sym typeface="Manrope"/>
              </a:rPr>
              <a:t>LoopDraw</a:t>
            </a:r>
            <a:r>
              <a:rPr lang="en-US" sz="800" b="1" dirty="0">
                <a:solidFill>
                  <a:srgbClr val="202729"/>
                </a:solidFill>
                <a:latin typeface="Manrope"/>
                <a:ea typeface="Manrope"/>
                <a:cs typeface="Manrope"/>
                <a:sym typeface="Manrope"/>
              </a:rPr>
              <a:t> a cycle with 3 </a:t>
            </a:r>
            <a:r>
              <a:rPr lang="en-US" sz="800" b="1" dirty="0" err="1">
                <a:solidFill>
                  <a:srgbClr val="202729"/>
                </a:solidFill>
                <a:latin typeface="Manrope"/>
                <a:ea typeface="Manrope"/>
                <a:cs typeface="Manrope"/>
                <a:sym typeface="Manrope"/>
              </a:rPr>
              <a:t>icons:Mic</a:t>
            </a:r>
            <a:r>
              <a:rPr lang="en-US" sz="800" b="1" dirty="0">
                <a:solidFill>
                  <a:srgbClr val="202729"/>
                </a:solidFill>
                <a:latin typeface="Manrope"/>
                <a:ea typeface="Manrope"/>
                <a:cs typeface="Manrope"/>
                <a:sym typeface="Manrope"/>
              </a:rPr>
              <a:t> Icon (Vendor Speaks) ➡️Brain Icon (AI Processes) ➡️Speaker Icon (App Confirms) Caption: "100% Eyes-Free Workflow.</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Visual 2: The Trust </a:t>
            </a:r>
            <a:r>
              <a:rPr lang="en-US" sz="800" b="1" dirty="0" err="1">
                <a:solidFill>
                  <a:srgbClr val="202729"/>
                </a:solidFill>
                <a:latin typeface="Manrope"/>
                <a:ea typeface="Manrope"/>
                <a:cs typeface="Manrope"/>
                <a:sym typeface="Manrope"/>
              </a:rPr>
              <a:t>LayerDraw</a:t>
            </a:r>
            <a:r>
              <a:rPr lang="en-US" sz="800" b="1" dirty="0">
                <a:solidFill>
                  <a:srgbClr val="202729"/>
                </a:solidFill>
                <a:latin typeface="Manrope"/>
                <a:ea typeface="Manrope"/>
                <a:cs typeface="Manrope"/>
                <a:sym typeface="Manrope"/>
              </a:rPr>
              <a:t> a Database Record row: [ Date | Customer | Amount | 🔊 Play Audio Button ] Caption: "The only ledger that keeps the 'Voice of Truth' for every transaction.</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Visual 3: The Hybrid </a:t>
            </a:r>
            <a:r>
              <a:rPr lang="en-US" sz="800" b="1" dirty="0" err="1">
                <a:solidFill>
                  <a:srgbClr val="202729"/>
                </a:solidFill>
                <a:latin typeface="Manrope"/>
                <a:ea typeface="Manrope"/>
                <a:cs typeface="Manrope"/>
                <a:sym typeface="Manrope"/>
              </a:rPr>
              <a:t>StackDraw</a:t>
            </a:r>
            <a:r>
              <a:rPr lang="en-US" sz="800" b="1" dirty="0">
                <a:solidFill>
                  <a:srgbClr val="202729"/>
                </a:solidFill>
                <a:latin typeface="Manrope"/>
                <a:ea typeface="Manrope"/>
                <a:cs typeface="Manrope"/>
                <a:sym typeface="Manrope"/>
              </a:rPr>
              <a:t> a split </a:t>
            </a:r>
            <a:r>
              <a:rPr lang="en-US" sz="800" b="1" dirty="0" err="1">
                <a:solidFill>
                  <a:srgbClr val="202729"/>
                </a:solidFill>
                <a:latin typeface="Manrope"/>
                <a:ea typeface="Manrope"/>
                <a:cs typeface="Manrope"/>
                <a:sym typeface="Manrope"/>
              </a:rPr>
              <a:t>block:Left</a:t>
            </a:r>
            <a:r>
              <a:rPr lang="en-US" sz="800" b="1" dirty="0">
                <a:solidFill>
                  <a:srgbClr val="202729"/>
                </a:solidFill>
                <a:latin typeface="Manrope"/>
                <a:ea typeface="Manrope"/>
                <a:cs typeface="Manrope"/>
                <a:sym typeface="Manrope"/>
              </a:rPr>
              <a:t> Side (Python Snake): "Fast AI Brain (NLU)"Right Side (Java Coffee Cup): "Secure Banking </a:t>
            </a:r>
            <a:r>
              <a:rPr lang="en-US" sz="800" b="1" dirty="0" err="1">
                <a:solidFill>
                  <a:srgbClr val="202729"/>
                </a:solidFill>
                <a:latin typeface="Manrope"/>
                <a:ea typeface="Manrope"/>
                <a:cs typeface="Manrope"/>
                <a:sym typeface="Manrope"/>
              </a:rPr>
              <a:t>Core"Center</a:t>
            </a:r>
            <a:r>
              <a:rPr lang="en-US" sz="800" b="1" dirty="0">
                <a:solidFill>
                  <a:srgbClr val="202729"/>
                </a:solidFill>
                <a:latin typeface="Manrope"/>
                <a:ea typeface="Manrope"/>
                <a:cs typeface="Manrope"/>
                <a:sym typeface="Manrope"/>
              </a:rPr>
              <a:t>: "Connected via API" Caption: "Speed of AI + Security     </a:t>
            </a:r>
          </a:p>
          <a:p>
            <a:pPr lvl="0" algn="l" rtl="0">
              <a:lnSpc>
                <a:spcPct val="115000"/>
              </a:lnSpc>
              <a:spcBef>
                <a:spcPts val="0"/>
              </a:spcBef>
              <a:spcAft>
                <a:spcPts val="0"/>
              </a:spcAft>
              <a:buSzPts val="935"/>
            </a:pPr>
            <a:r>
              <a:rPr lang="en-US" sz="800" b="1" dirty="0">
                <a:solidFill>
                  <a:srgbClr val="202729"/>
                </a:solidFill>
                <a:latin typeface="Manrope"/>
                <a:ea typeface="Manrope"/>
                <a:cs typeface="Manrope"/>
                <a:sym typeface="Manrope"/>
              </a:rPr>
              <a:t>                                  of banking.</a:t>
            </a:r>
            <a:endParaRPr sz="800" b="1" dirty="0">
              <a:solidFill>
                <a:srgbClr val="202729"/>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0" y="446049"/>
            <a:ext cx="9144000" cy="462403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b="1" dirty="0">
                <a:solidFill>
                  <a:srgbClr val="202729"/>
                </a:solidFill>
                <a:latin typeface="Manrope"/>
                <a:ea typeface="Manrope"/>
                <a:cs typeface="Manrope"/>
                <a:sym typeface="Manrope"/>
              </a:rPr>
              <a:t>Process flow diagram or Use-case diagram:</a:t>
            </a:r>
          </a:p>
          <a:p>
            <a:pPr marL="0" lvl="0" indent="0" algn="l" rtl="0">
              <a:lnSpc>
                <a:spcPct val="115000"/>
              </a:lnSpc>
              <a:spcBef>
                <a:spcPts val="0"/>
              </a:spcBef>
              <a:spcAft>
                <a:spcPts val="0"/>
              </a:spcAft>
              <a:buSzPts val="935"/>
              <a:buNone/>
            </a:pPr>
            <a:endParaRPr lang="en-GB" b="1" dirty="0">
              <a:solidFill>
                <a:srgbClr val="202729"/>
              </a:solidFill>
              <a:latin typeface="Manrope"/>
              <a:ea typeface="Manrope"/>
              <a:cs typeface="Manrope"/>
              <a:sym typeface="Manrope"/>
            </a:endParaRPr>
          </a:p>
          <a:p>
            <a:pPr marL="0" lvl="0" indent="0" algn="l" rtl="0">
              <a:lnSpc>
                <a:spcPct val="115000"/>
              </a:lnSpc>
              <a:spcBef>
                <a:spcPts val="0"/>
              </a:spcBef>
              <a:spcAft>
                <a:spcPts val="0"/>
              </a:spcAft>
              <a:buSzPts val="935"/>
              <a:buNone/>
            </a:pPr>
            <a:endParaRPr lang="en-GB" b="1" dirty="0">
              <a:solidFill>
                <a:srgbClr val="202729"/>
              </a:solidFill>
              <a:latin typeface="Manrope"/>
              <a:ea typeface="Manrope"/>
              <a:cs typeface="Manrope"/>
              <a:sym typeface="Manrope"/>
            </a:endParaRPr>
          </a:p>
          <a:p>
            <a:pPr marL="0" lvl="0" indent="0" algn="l" rtl="0">
              <a:lnSpc>
                <a:spcPct val="115000"/>
              </a:lnSpc>
              <a:spcBef>
                <a:spcPts val="0"/>
              </a:spcBef>
              <a:spcAft>
                <a:spcPts val="0"/>
              </a:spcAft>
              <a:buSzPts val="935"/>
              <a:buNone/>
            </a:pPr>
            <a:r>
              <a:rPr lang="en-GB" b="1" dirty="0">
                <a:solidFill>
                  <a:srgbClr val="202729"/>
                </a:solidFill>
                <a:latin typeface="Manrope"/>
                <a:ea typeface="Manrope"/>
                <a:cs typeface="Manrope"/>
                <a:sym typeface="Manrope"/>
              </a:rPr>
              <a:t> </a:t>
            </a:r>
            <a:endParaRPr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BDFC0ED1-81E0-ADA4-7313-875CED72D19B}"/>
              </a:ext>
            </a:extLst>
          </p:cNvPr>
          <p:cNvPicPr>
            <a:picLocks noChangeAspect="1"/>
          </p:cNvPicPr>
          <p:nvPr/>
        </p:nvPicPr>
        <p:blipFill>
          <a:blip r:embed="rId4"/>
          <a:stretch>
            <a:fillRect/>
          </a:stretch>
        </p:blipFill>
        <p:spPr>
          <a:xfrm>
            <a:off x="0" y="1063083"/>
            <a:ext cx="9144000" cy="30851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a:solidFill>
                  <a:srgbClr val="202729"/>
                </a:solidFill>
                <a:latin typeface="Manrope"/>
                <a:ea typeface="Manrope"/>
                <a:cs typeface="Manrope"/>
                <a:sym typeface="Manrope"/>
              </a:rPr>
              <a:t>Wireframes/Mock diagrams of the proposed solution (optional)</a:t>
            </a:r>
            <a:endParaRPr sz="1700" b="1">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a:solidFill>
                <a:srgbClr val="434343"/>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0" y="462106"/>
            <a:ext cx="9144000" cy="4600548"/>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b="1" dirty="0">
                <a:solidFill>
                  <a:srgbClr val="202729"/>
                </a:solidFill>
                <a:latin typeface="Manrope"/>
                <a:ea typeface="Manrope"/>
                <a:cs typeface="Manrope"/>
                <a:sym typeface="Manrope"/>
              </a:rPr>
              <a:t>Architecture diagram of the proposed solution</a:t>
            </a:r>
            <a:r>
              <a:rPr lang="en-GB" sz="1700" b="1" dirty="0">
                <a:solidFill>
                  <a:srgbClr val="202729"/>
                </a:solidFill>
                <a:latin typeface="Manrope"/>
                <a:ea typeface="Manrope"/>
                <a:cs typeface="Manrope"/>
                <a:sym typeface="Manrope"/>
              </a:rPr>
              <a:t>:</a:t>
            </a:r>
          </a:p>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pic>
        <p:nvPicPr>
          <p:cNvPr id="3" name="Picture 2">
            <a:extLst>
              <a:ext uri="{FF2B5EF4-FFF2-40B4-BE49-F238E27FC236}">
                <a16:creationId xmlns:a16="http://schemas.microsoft.com/office/drawing/2014/main" id="{1CFFEAB7-465F-DC64-4597-9227804570B2}"/>
              </a:ext>
            </a:extLst>
          </p:cNvPr>
          <p:cNvPicPr>
            <a:picLocks noChangeAspect="1"/>
          </p:cNvPicPr>
          <p:nvPr/>
        </p:nvPicPr>
        <p:blipFill>
          <a:blip r:embed="rId4"/>
          <a:stretch>
            <a:fillRect/>
          </a:stretch>
        </p:blipFill>
        <p:spPr>
          <a:xfrm>
            <a:off x="2822301" y="838200"/>
            <a:ext cx="3499398" cy="42244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0" y="468351"/>
            <a:ext cx="9144000" cy="4594303"/>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800" b="1" dirty="0">
                <a:solidFill>
                  <a:srgbClr val="202729"/>
                </a:solidFill>
                <a:latin typeface="Manrope"/>
                <a:ea typeface="Manrope"/>
                <a:cs typeface="Manrope"/>
                <a:sym typeface="Manrope"/>
              </a:rPr>
              <a:t>Technologies to be used in the solution:</a:t>
            </a:r>
          </a:p>
          <a:p>
            <a:pPr lvl="0">
              <a:lnSpc>
                <a:spcPct val="115000"/>
              </a:lnSpc>
              <a:spcAft>
                <a:spcPts val="1200"/>
              </a:spcAft>
              <a:buSzPts val="935"/>
            </a:pPr>
            <a:r>
              <a:rPr lang="en-GB" sz="1200" b="1" dirty="0">
                <a:solidFill>
                  <a:srgbClr val="202729"/>
                </a:solidFill>
                <a:latin typeface="Manrope"/>
                <a:ea typeface="Manrope"/>
                <a:cs typeface="Manrope"/>
                <a:sym typeface="Manrope"/>
              </a:rPr>
              <a:t>Core Backend (Banking Service): Java 17+, Spring Boot 3.x, Spring Data JPA (for robust transaction management).</a:t>
            </a:r>
          </a:p>
          <a:p>
            <a:pPr lvl="0">
              <a:lnSpc>
                <a:spcPct val="115000"/>
              </a:lnSpc>
              <a:spcAft>
                <a:spcPts val="1200"/>
              </a:spcAft>
              <a:buSzPts val="935"/>
            </a:pPr>
            <a:r>
              <a:rPr lang="en-GB" sz="1200" b="1" dirty="0">
                <a:solidFill>
                  <a:srgbClr val="202729"/>
                </a:solidFill>
                <a:latin typeface="Manrope"/>
                <a:ea typeface="Manrope"/>
                <a:cs typeface="Manrope"/>
                <a:sym typeface="Manrope"/>
              </a:rPr>
              <a:t>AI Microservice (Voice Brain): Python 3.10+, </a:t>
            </a:r>
            <a:r>
              <a:rPr lang="en-GB" sz="1200" b="1" dirty="0" err="1">
                <a:solidFill>
                  <a:srgbClr val="202729"/>
                </a:solidFill>
                <a:latin typeface="Manrope"/>
                <a:ea typeface="Manrope"/>
                <a:cs typeface="Manrope"/>
                <a:sym typeface="Manrope"/>
              </a:rPr>
              <a:t>FastAPI</a:t>
            </a:r>
            <a:r>
              <a:rPr lang="en-GB" sz="1200" b="1" dirty="0">
                <a:solidFill>
                  <a:srgbClr val="202729"/>
                </a:solidFill>
                <a:latin typeface="Manrope"/>
                <a:ea typeface="Manrope"/>
                <a:cs typeface="Manrope"/>
                <a:sym typeface="Manrope"/>
              </a:rPr>
              <a:t> (for high-performance async processing).</a:t>
            </a:r>
          </a:p>
          <a:p>
            <a:pPr lvl="0">
              <a:lnSpc>
                <a:spcPct val="115000"/>
              </a:lnSpc>
              <a:spcAft>
                <a:spcPts val="1200"/>
              </a:spcAft>
              <a:buSzPts val="935"/>
            </a:pPr>
            <a:r>
              <a:rPr lang="en-GB" sz="1200" b="1" dirty="0">
                <a:solidFill>
                  <a:srgbClr val="202729"/>
                </a:solidFill>
                <a:latin typeface="Manrope"/>
                <a:ea typeface="Manrope"/>
                <a:cs typeface="Manrope"/>
                <a:sym typeface="Manrope"/>
              </a:rPr>
              <a:t>Speech Infrastructure (DPI): Bhashini API (Government of India) &amp; Sarvam AI (for accurate Indian dialect ASR).</a:t>
            </a:r>
          </a:p>
          <a:p>
            <a:pPr lvl="0">
              <a:lnSpc>
                <a:spcPct val="115000"/>
              </a:lnSpc>
              <a:spcAft>
                <a:spcPts val="1200"/>
              </a:spcAft>
              <a:buSzPts val="935"/>
            </a:pPr>
            <a:r>
              <a:rPr lang="en-GB" sz="1200" b="1" dirty="0">
                <a:solidFill>
                  <a:srgbClr val="202729"/>
                </a:solidFill>
                <a:latin typeface="Manrope"/>
                <a:ea typeface="Manrope"/>
                <a:cs typeface="Manrope"/>
                <a:sym typeface="Manrope"/>
              </a:rPr>
              <a:t>Database: MySQL 8.0 (Relational data integrity for financial records).</a:t>
            </a:r>
          </a:p>
          <a:p>
            <a:pPr lvl="0">
              <a:lnSpc>
                <a:spcPct val="115000"/>
              </a:lnSpc>
              <a:spcAft>
                <a:spcPts val="1200"/>
              </a:spcAft>
              <a:buSzPts val="935"/>
            </a:pPr>
            <a:r>
              <a:rPr lang="en-GB" sz="1200" b="1" dirty="0">
                <a:solidFill>
                  <a:srgbClr val="202729"/>
                </a:solidFill>
                <a:latin typeface="Manrope"/>
                <a:ea typeface="Manrope"/>
                <a:cs typeface="Manrope"/>
                <a:sym typeface="Manrope"/>
              </a:rPr>
              <a:t>NLU Engine: Custom 3-Tier stack using Regex (Speed), </a:t>
            </a:r>
            <a:r>
              <a:rPr lang="en-GB" sz="1200" b="1" dirty="0" err="1">
                <a:solidFill>
                  <a:srgbClr val="202729"/>
                </a:solidFill>
                <a:latin typeface="Manrope"/>
                <a:ea typeface="Manrope"/>
                <a:cs typeface="Manrope"/>
                <a:sym typeface="Manrope"/>
              </a:rPr>
              <a:t>spaCy</a:t>
            </a:r>
            <a:r>
              <a:rPr lang="en-GB" sz="1200" b="1" dirty="0">
                <a:solidFill>
                  <a:srgbClr val="202729"/>
                </a:solidFill>
                <a:latin typeface="Manrope"/>
                <a:ea typeface="Manrope"/>
                <a:cs typeface="Manrope"/>
                <a:sym typeface="Manrope"/>
              </a:rPr>
              <a:t> (NLP), and LLM (Fallback intelligence).</a:t>
            </a:r>
          </a:p>
          <a:p>
            <a:pPr lvl="0">
              <a:lnSpc>
                <a:spcPct val="115000"/>
              </a:lnSpc>
              <a:spcAft>
                <a:spcPts val="1200"/>
              </a:spcAft>
              <a:buSzPts val="935"/>
            </a:pPr>
            <a:r>
              <a:rPr lang="en-GB" sz="1200" b="1" dirty="0">
                <a:solidFill>
                  <a:srgbClr val="202729"/>
                </a:solidFill>
                <a:latin typeface="Manrope"/>
                <a:ea typeface="Manrope"/>
                <a:cs typeface="Manrope"/>
                <a:sym typeface="Manrope"/>
              </a:rPr>
              <a:t>Integrations: Twilio / WhatsApp Business API (for automated receipts).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Estimated implementation cost (optional):</a:t>
            </a:r>
            <a:endParaRPr>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a:solidFill>
                  <a:srgbClr val="202729"/>
                </a:solidFill>
                <a:latin typeface="Manrope"/>
                <a:ea typeface="Manrope"/>
                <a:cs typeface="Manrope"/>
                <a:sym typeface="Manrope"/>
              </a:rPr>
              <a:t>Add as per the requirements for the hackathon:</a:t>
            </a:r>
            <a:endParaRPr>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1282</Words>
  <Application>Microsoft Office PowerPoint</Application>
  <PresentationFormat>On-screen Show (16:9)</PresentationFormat>
  <Paragraphs>71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Manrope SemiBold</vt:lpstr>
      <vt:lpstr>Manrope</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Suraj Ojha</cp:lastModifiedBy>
  <cp:revision>2</cp:revision>
  <dcterms:modified xsi:type="dcterms:W3CDTF">2026-02-14T21:17:01Z</dcterms:modified>
</cp:coreProperties>
</file>